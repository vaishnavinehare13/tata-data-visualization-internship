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udio/m4a" Extension="m4a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Open Sauce Bold" charset="1" panose="00000800000000000000"/>
      <p:regular r:id="rId20"/>
    </p:embeddedFont>
    <p:embeddedFont>
      <p:font typeface="Open Sauce Heavy" charset="1" panose="00000A00000000000000"/>
      <p:regular r:id="rId21"/>
    </p:embeddedFont>
    <p:embeddedFont>
      <p:font typeface="Open Sauce" charset="1" panose="00000500000000000000"/>
      <p:regular r:id="rId22"/>
    </p:embeddedFont>
    <p:embeddedFont>
      <p:font typeface="Montserrat" charset="1" panose="00000500000000000000"/>
      <p:regular r:id="rId23"/>
    </p:embeddedFont>
    <p:embeddedFont>
      <p:font typeface="Montserrat Bold" charset="1" panose="00000800000000000000"/>
      <p:regular r:id="rId24"/>
    </p:embeddedFont>
    <p:embeddedFont>
      <p:font typeface="Century Gothic Paneuropean Bold" charset="1" panose="020B0702020202020204"/>
      <p:regular r:id="rId25"/>
    </p:embeddedFont>
    <p:embeddedFont>
      <p:font typeface="IBM Plex Sans Condensed" charset="1" panose="020B0506050203000203"/>
      <p:regular r:id="rId26"/>
    </p:embeddedFont>
    <p:embeddedFont>
      <p:font typeface="Times New Roman MT Bold" charset="1" panose="02030802070405020303"/>
      <p:regular r:id="rId27"/>
    </p:embeddedFont>
    <p:embeddedFont>
      <p:font typeface="Century Gothic Paneuropean" charset="1" panose="020B0502020202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38.jpeg" Type="http://schemas.openxmlformats.org/officeDocument/2006/relationships/image"/><Relationship Id="rId8" Target="../media/aAGKDsGph7Y.m4a" Type="http://schemas.microsoft.com/office/2007/relationships/media"/><Relationship Id="rId9" Target="../media/aAGKDsGph7Y.m4a" Type="http://schemas.openxmlformats.org/officeDocument/2006/relationships/audio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47759" y="3749017"/>
            <a:ext cx="3240241" cy="6504134"/>
          </a:xfrm>
          <a:custGeom>
            <a:avLst/>
            <a:gdLst/>
            <a:ahLst/>
            <a:cxnLst/>
            <a:rect r="r" b="b" t="t" l="l"/>
            <a:pathLst>
              <a:path h="6504134" w="3240241">
                <a:moveTo>
                  <a:pt x="0" y="0"/>
                </a:moveTo>
                <a:lnTo>
                  <a:pt x="3240241" y="0"/>
                </a:lnTo>
                <a:lnTo>
                  <a:pt x="3240241" y="6504133"/>
                </a:lnTo>
                <a:lnTo>
                  <a:pt x="0" y="65041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032403" y="-1448305"/>
            <a:ext cx="5255597" cy="13183610"/>
            <a:chOff x="0" y="0"/>
            <a:chExt cx="1384190" cy="34722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4190" cy="3472226"/>
            </a:xfrm>
            <a:custGeom>
              <a:avLst/>
              <a:gdLst/>
              <a:ahLst/>
              <a:cxnLst/>
              <a:rect r="r" b="b" t="t" l="l"/>
              <a:pathLst>
                <a:path h="3472226" w="1384190">
                  <a:moveTo>
                    <a:pt x="0" y="0"/>
                  </a:moveTo>
                  <a:lnTo>
                    <a:pt x="1384190" y="0"/>
                  </a:lnTo>
                  <a:lnTo>
                    <a:pt x="1384190" y="3472226"/>
                  </a:lnTo>
                  <a:lnTo>
                    <a:pt x="0" y="3472226"/>
                  </a:lnTo>
                  <a:close/>
                </a:path>
              </a:pathLst>
            </a:custGeom>
            <a:solidFill>
              <a:srgbClr val="10686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384190" cy="3491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432880" y="1526000"/>
            <a:ext cx="7234999" cy="7234999"/>
          </a:xfrm>
          <a:custGeom>
            <a:avLst/>
            <a:gdLst/>
            <a:ahLst/>
            <a:cxnLst/>
            <a:rect r="r" b="b" t="t" l="l"/>
            <a:pathLst>
              <a:path h="7234999" w="7234999">
                <a:moveTo>
                  <a:pt x="0" y="0"/>
                </a:moveTo>
                <a:lnTo>
                  <a:pt x="7234999" y="0"/>
                </a:lnTo>
                <a:lnTo>
                  <a:pt x="7234999" y="7235000"/>
                </a:lnTo>
                <a:lnTo>
                  <a:pt x="0" y="7235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0106590" y="2199722"/>
            <a:ext cx="5887580" cy="5887556"/>
            <a:chOff x="0" y="0"/>
            <a:chExt cx="6350000" cy="63499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 l="0" t="-25047" r="0" b="-2504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04888" y="2469002"/>
            <a:ext cx="47625" cy="5931352"/>
            <a:chOff x="0" y="0"/>
            <a:chExt cx="12543" cy="15621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43" cy="1562167"/>
            </a:xfrm>
            <a:custGeom>
              <a:avLst/>
              <a:gdLst/>
              <a:ahLst/>
              <a:cxnLst/>
              <a:rect r="r" b="b" t="t" l="l"/>
              <a:pathLst>
                <a:path h="1562167" w="12543">
                  <a:moveTo>
                    <a:pt x="0" y="0"/>
                  </a:moveTo>
                  <a:lnTo>
                    <a:pt x="12543" y="0"/>
                  </a:lnTo>
                  <a:lnTo>
                    <a:pt x="12543" y="1562167"/>
                  </a:lnTo>
                  <a:lnTo>
                    <a:pt x="0" y="1562167"/>
                  </a:lnTo>
                  <a:close/>
                </a:path>
              </a:pathLst>
            </a:custGeom>
            <a:solidFill>
              <a:srgbClr val="123D33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2543" cy="1581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87521" y="2686773"/>
            <a:ext cx="7214594" cy="128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0"/>
              </a:lnSpc>
            </a:pPr>
            <a:r>
              <a:rPr lang="en-US" sz="7507" spc="-150" b="true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SIP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7521" y="3848459"/>
            <a:ext cx="7409004" cy="1135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4"/>
              </a:lnSpc>
            </a:pPr>
            <a:r>
              <a:rPr lang="en-US" sz="6638" spc="-132" b="true">
                <a:solidFill>
                  <a:srgbClr val="191919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PRESENTATION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7521" y="4936003"/>
            <a:ext cx="6832368" cy="49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3018" spc="241">
                <a:solidFill>
                  <a:srgbClr val="191919"/>
                </a:solidFill>
                <a:latin typeface="Open Sauce"/>
                <a:ea typeface="Open Sauce"/>
                <a:cs typeface="Open Sauce"/>
                <a:sym typeface="Open Sauce"/>
              </a:rPr>
              <a:t>Internship / Course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7521" y="5757053"/>
            <a:ext cx="6832368" cy="102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3018" spc="241">
                <a:solidFill>
                  <a:srgbClr val="A6A6A6"/>
                </a:solidFill>
                <a:latin typeface="Open Sauce"/>
                <a:ea typeface="Open Sauce"/>
                <a:cs typeface="Open Sauce"/>
                <a:sym typeface="Open Sauce"/>
              </a:rPr>
              <a:t>Vaishnavi Somnath Nehare Computer Engineering </a:t>
            </a:r>
          </a:p>
        </p:txBody>
      </p:sp>
      <p:pic>
        <p:nvPicPr>
          <p:cNvPr name="Picture 16" id="16">
            <a:hlinkClick action="ppaction://media"/>
          </p:cNvPr>
          <p:cNvPicPr>
            <a:picLocks noChangeAspect="true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629650" y="4629150"/>
            <a:ext cx="1028700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cmd cmd="playFrom(0.0)">
              <p:cBhvr>
                <p:cTn/>
                <p:tgtEl>
                  <p:spTgt spid="16"/>
                </p:tgtEl>
              </p:cBhvr>
            </p:cmd>
            <p:audio>
              <p:cMediaNode vol="100000" showWhenStopped="false">
                <p:cTn/>
                <p:tgtEl>
                  <p:spTgt spid="16"/>
                </p:tgtEl>
              </p:cMediaNode>
            </p:audi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81967" y="-2828925"/>
            <a:ext cx="5657850" cy="565785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686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10892" y="0"/>
            <a:ext cx="6648057" cy="10287000"/>
            <a:chOff x="0" y="0"/>
            <a:chExt cx="1750928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092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50928">
                  <a:moveTo>
                    <a:pt x="0" y="0"/>
                  </a:moveTo>
                  <a:lnTo>
                    <a:pt x="1750928" y="0"/>
                  </a:lnTo>
                  <a:lnTo>
                    <a:pt x="175092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06861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50928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90959" y="8567821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6861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06536" y="3314080"/>
            <a:ext cx="654889" cy="65488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3D33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742370" y="0"/>
            <a:ext cx="6616579" cy="10287000"/>
          </a:xfrm>
          <a:custGeom>
            <a:avLst/>
            <a:gdLst/>
            <a:ahLst/>
            <a:cxnLst/>
            <a:rect r="r" b="b" t="t" l="l"/>
            <a:pathLst>
              <a:path h="10287000" w="6616579">
                <a:moveTo>
                  <a:pt x="0" y="0"/>
                </a:moveTo>
                <a:lnTo>
                  <a:pt x="6616579" y="0"/>
                </a:lnTo>
                <a:lnTo>
                  <a:pt x="661657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90" t="0" r="-208" b="-5034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95137" y="1754095"/>
            <a:ext cx="3630003" cy="80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44"/>
              </a:lnSpc>
              <a:spcBef>
                <a:spcPct val="0"/>
              </a:spcBef>
            </a:pPr>
            <a:r>
              <a:rPr lang="en-US" b="true" sz="4746" spc="-94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INDEX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32665" y="3180730"/>
            <a:ext cx="5224262" cy="687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96" indent="-325798" lvl="1">
              <a:lnSpc>
                <a:spcPts val="5009"/>
              </a:lnSpc>
              <a:buFont typeface="Arial"/>
              <a:buChar char="•"/>
            </a:pPr>
            <a:r>
              <a:rPr lang="en-US" sz="3018">
                <a:solidFill>
                  <a:srgbClr val="333231"/>
                </a:solidFill>
                <a:latin typeface="Open Sauce"/>
                <a:ea typeface="Open Sauce"/>
                <a:cs typeface="Open Sauce"/>
                <a:sym typeface="Open Sauce"/>
              </a:rPr>
              <a:t>Introduction</a:t>
            </a:r>
          </a:p>
          <a:p>
            <a:pPr algn="l" marL="651596" indent="-325798" lvl="1">
              <a:lnSpc>
                <a:spcPts val="5009"/>
              </a:lnSpc>
              <a:buFont typeface="Arial"/>
              <a:buChar char="•"/>
            </a:pPr>
            <a:r>
              <a:rPr lang="en-US" sz="3018">
                <a:solidFill>
                  <a:srgbClr val="333231"/>
                </a:solidFill>
                <a:latin typeface="Open Sauce"/>
                <a:ea typeface="Open Sauce"/>
                <a:cs typeface="Open Sauce"/>
                <a:sym typeface="Open Sauce"/>
              </a:rPr>
              <a:t>Image of Certificate</a:t>
            </a:r>
          </a:p>
          <a:p>
            <a:pPr algn="l" marL="651596" indent="-325798" lvl="1">
              <a:lnSpc>
                <a:spcPts val="5009"/>
              </a:lnSpc>
              <a:buFont typeface="Arial"/>
              <a:buChar char="•"/>
            </a:pPr>
            <a:r>
              <a:rPr lang="en-US" sz="3018">
                <a:solidFill>
                  <a:srgbClr val="333231"/>
                </a:solidFill>
                <a:latin typeface="Open Sauce"/>
                <a:ea typeface="Open Sauce"/>
                <a:cs typeface="Open Sauce"/>
                <a:sym typeface="Open Sauce"/>
              </a:rPr>
              <a:t>Collage of no. of hours per course </a:t>
            </a:r>
          </a:p>
          <a:p>
            <a:pPr algn="l" marL="651596" indent="-325798" lvl="1">
              <a:lnSpc>
                <a:spcPts val="5009"/>
              </a:lnSpc>
              <a:buFont typeface="Arial"/>
              <a:buChar char="•"/>
            </a:pPr>
            <a:r>
              <a:rPr lang="en-US" sz="3018">
                <a:solidFill>
                  <a:srgbClr val="333231"/>
                </a:solidFill>
                <a:latin typeface="Open Sauce"/>
                <a:ea typeface="Open Sauce"/>
                <a:cs typeface="Open Sauce"/>
                <a:sym typeface="Open Sauce"/>
              </a:rPr>
              <a:t>Learnings from the Internship</a:t>
            </a:r>
            <a:r>
              <a:rPr lang="en-US" b="true" sz="3018">
                <a:solidFill>
                  <a:srgbClr val="3332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  <a:p>
            <a:pPr algn="l" marL="651596" indent="-325798" lvl="1">
              <a:lnSpc>
                <a:spcPts val="5009"/>
              </a:lnSpc>
              <a:buFont typeface="Arial"/>
              <a:buChar char="•"/>
            </a:pPr>
            <a:r>
              <a:rPr lang="en-US" sz="3018">
                <a:solidFill>
                  <a:srgbClr val="333231"/>
                </a:solidFill>
                <a:latin typeface="Open Sauce"/>
                <a:ea typeface="Open Sauce"/>
                <a:cs typeface="Open Sauce"/>
                <a:sym typeface="Open Sauce"/>
              </a:rPr>
              <a:t>Problem Statement and Output</a:t>
            </a:r>
          </a:p>
          <a:p>
            <a:pPr algn="l" marL="651596" indent="-325798" lvl="1">
              <a:lnSpc>
                <a:spcPts val="5009"/>
              </a:lnSpc>
              <a:buFont typeface="Arial"/>
              <a:buChar char="•"/>
            </a:pPr>
            <a:r>
              <a:rPr lang="en-US" sz="3018">
                <a:solidFill>
                  <a:srgbClr val="333231"/>
                </a:solidFill>
                <a:latin typeface="Open Sauce"/>
                <a:ea typeface="Open Sauce"/>
                <a:cs typeface="Open Sauce"/>
                <a:sym typeface="Open Sauce"/>
              </a:rPr>
              <a:t>Plan for future use of learned things</a:t>
            </a:r>
          </a:p>
          <a:p>
            <a:pPr algn="l" marL="651596" indent="-325798" lvl="1">
              <a:lnSpc>
                <a:spcPts val="5009"/>
              </a:lnSpc>
              <a:buFont typeface="Arial"/>
              <a:buChar char="•"/>
            </a:pPr>
            <a:r>
              <a:rPr lang="en-US" sz="3018">
                <a:solidFill>
                  <a:srgbClr val="333231"/>
                </a:solidFill>
                <a:latin typeface="Open Sauce"/>
                <a:ea typeface="Open Sauce"/>
                <a:cs typeface="Open Sauce"/>
                <a:sym typeface="Open Sauce"/>
              </a:rPr>
              <a:t>References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2778327" y="7417124"/>
            <a:ext cx="12710840" cy="1184047"/>
          </a:xfrm>
          <a:custGeom>
            <a:avLst/>
            <a:gdLst/>
            <a:ahLst/>
            <a:cxnLst/>
            <a:rect r="r" b="b" t="t" l="l"/>
            <a:pathLst>
              <a:path h="1184047" w="12710840">
                <a:moveTo>
                  <a:pt x="0" y="0"/>
                </a:moveTo>
                <a:lnTo>
                  <a:pt x="12710840" y="0"/>
                </a:lnTo>
                <a:lnTo>
                  <a:pt x="12710840" y="1184046"/>
                </a:lnTo>
                <a:lnTo>
                  <a:pt x="0" y="1184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-2086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4491629"/>
            <a:chOff x="0" y="0"/>
            <a:chExt cx="4816593" cy="11829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82980"/>
            </a:xfrm>
            <a:custGeom>
              <a:avLst/>
              <a:gdLst/>
              <a:ahLst/>
              <a:cxnLst/>
              <a:rect r="r" b="b" t="t" l="l"/>
              <a:pathLst>
                <a:path h="118298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82980"/>
                  </a:lnTo>
                  <a:lnTo>
                    <a:pt x="0" y="11829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816593" cy="1202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-191616"/>
            <a:ext cx="18288000" cy="4683245"/>
          </a:xfrm>
          <a:custGeom>
            <a:avLst/>
            <a:gdLst/>
            <a:ahLst/>
            <a:cxnLst/>
            <a:rect r="r" b="b" t="t" l="l"/>
            <a:pathLst>
              <a:path h="4683245" w="18288000">
                <a:moveTo>
                  <a:pt x="0" y="0"/>
                </a:moveTo>
                <a:lnTo>
                  <a:pt x="18288000" y="0"/>
                </a:lnTo>
                <a:lnTo>
                  <a:pt x="18288000" y="4683245"/>
                </a:lnTo>
                <a:lnTo>
                  <a:pt x="0" y="46832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999"/>
            </a:blip>
            <a:stretch>
              <a:fillRect l="0" t="-67890" r="0" b="-9227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778327" y="2245814"/>
            <a:ext cx="12731346" cy="5171309"/>
            <a:chOff x="0" y="0"/>
            <a:chExt cx="3353112" cy="13619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53112" cy="1361991"/>
            </a:xfrm>
            <a:custGeom>
              <a:avLst/>
              <a:gdLst/>
              <a:ahLst/>
              <a:cxnLst/>
              <a:rect r="r" b="b" t="t" l="l"/>
              <a:pathLst>
                <a:path h="1361991" w="3353112">
                  <a:moveTo>
                    <a:pt x="15202" y="0"/>
                  </a:moveTo>
                  <a:lnTo>
                    <a:pt x="3337909" y="0"/>
                  </a:lnTo>
                  <a:cubicBezTo>
                    <a:pt x="3341941" y="0"/>
                    <a:pt x="3345808" y="1602"/>
                    <a:pt x="3348659" y="4453"/>
                  </a:cubicBezTo>
                  <a:cubicBezTo>
                    <a:pt x="3351510" y="7304"/>
                    <a:pt x="3353112" y="11171"/>
                    <a:pt x="3353112" y="15202"/>
                  </a:cubicBezTo>
                  <a:lnTo>
                    <a:pt x="3353112" y="1346788"/>
                  </a:lnTo>
                  <a:cubicBezTo>
                    <a:pt x="3353112" y="1350820"/>
                    <a:pt x="3351510" y="1354687"/>
                    <a:pt x="3348659" y="1357538"/>
                  </a:cubicBezTo>
                  <a:cubicBezTo>
                    <a:pt x="3345808" y="1360389"/>
                    <a:pt x="3341941" y="1361991"/>
                    <a:pt x="3337909" y="1361991"/>
                  </a:cubicBezTo>
                  <a:lnTo>
                    <a:pt x="15202" y="1361991"/>
                  </a:lnTo>
                  <a:cubicBezTo>
                    <a:pt x="11171" y="1361991"/>
                    <a:pt x="7304" y="1360389"/>
                    <a:pt x="4453" y="1357538"/>
                  </a:cubicBezTo>
                  <a:cubicBezTo>
                    <a:pt x="1602" y="1354687"/>
                    <a:pt x="0" y="1350820"/>
                    <a:pt x="0" y="1346788"/>
                  </a:cubicBezTo>
                  <a:lnTo>
                    <a:pt x="0" y="15202"/>
                  </a:lnTo>
                  <a:cubicBezTo>
                    <a:pt x="0" y="11171"/>
                    <a:pt x="1602" y="7304"/>
                    <a:pt x="4453" y="4453"/>
                  </a:cubicBezTo>
                  <a:cubicBezTo>
                    <a:pt x="7304" y="1602"/>
                    <a:pt x="11171" y="0"/>
                    <a:pt x="15202" y="0"/>
                  </a:cubicBezTo>
                  <a:close/>
                </a:path>
              </a:pathLst>
            </a:custGeom>
            <a:solidFill>
              <a:srgbClr val="106861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3353112" cy="1381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113923" y="9258300"/>
            <a:ext cx="327444" cy="32744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3D33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648108" y="9258300"/>
            <a:ext cx="327444" cy="32744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3D33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161723" y="9258300"/>
            <a:ext cx="327444" cy="32744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3D33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915453" y="4187479"/>
            <a:ext cx="10457095" cy="286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4"/>
              </a:lnSpc>
            </a:pPr>
            <a:r>
              <a:rPr lang="en-US" sz="24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presentation highlights my journey through the</a:t>
            </a:r>
            <a:r>
              <a:rPr lang="en-US" sz="241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"TATA’S  Data Visualization: Empowering Business Insights" </a:t>
            </a:r>
            <a:r>
              <a:rPr lang="en-US" sz="24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internship program. The program equipped me with valuable skills in data visualization, analysis, and communication, empowering me to drive informed decision-making in a business setting.</a:t>
            </a:r>
          </a:p>
          <a:p>
            <a:pPr algn="ctr">
              <a:lnSpc>
                <a:spcPts val="3704"/>
              </a:lnSpc>
            </a:pPr>
            <a:r>
              <a:rPr lang="en-US" sz="23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And also I am complete</a:t>
            </a:r>
            <a:r>
              <a:rPr lang="en-US" b="true" sz="231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the Infosys Cyber Security Course.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79731" y="2745984"/>
            <a:ext cx="6928538" cy="115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82"/>
              </a:lnSpc>
              <a:spcBef>
                <a:spcPct val="0"/>
              </a:spcBef>
            </a:pPr>
            <a:r>
              <a:rPr lang="en-US" b="true" sz="6844" spc="-136">
                <a:solidFill>
                  <a:srgbClr val="FDFBF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94300" y="3675559"/>
            <a:ext cx="3293700" cy="6611441"/>
          </a:xfrm>
          <a:custGeom>
            <a:avLst/>
            <a:gdLst/>
            <a:ahLst/>
            <a:cxnLst/>
            <a:rect r="r" b="b" t="t" l="l"/>
            <a:pathLst>
              <a:path h="6611441" w="3293700">
                <a:moveTo>
                  <a:pt x="0" y="0"/>
                </a:moveTo>
                <a:lnTo>
                  <a:pt x="3293700" y="0"/>
                </a:lnTo>
                <a:lnTo>
                  <a:pt x="3293700" y="6611441"/>
                </a:lnTo>
                <a:lnTo>
                  <a:pt x="0" y="66114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-2364371" y="-2474096"/>
            <a:ext cx="5578401" cy="557840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42950" cap="sq">
              <a:solidFill>
                <a:srgbClr val="AEEA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6350" y="3876969"/>
            <a:ext cx="1010697" cy="101069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42950" cap="sq">
              <a:solidFill>
                <a:srgbClr val="AEEA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856034" y="3348832"/>
            <a:ext cx="8575931" cy="3086100"/>
            <a:chOff x="0" y="0"/>
            <a:chExt cx="2258681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58682" cy="812800"/>
            </a:xfrm>
            <a:custGeom>
              <a:avLst/>
              <a:gdLst/>
              <a:ahLst/>
              <a:cxnLst/>
              <a:rect r="r" b="b" t="t" l="l"/>
              <a:pathLst>
                <a:path h="812800" w="2258682">
                  <a:moveTo>
                    <a:pt x="37013" y="0"/>
                  </a:moveTo>
                  <a:lnTo>
                    <a:pt x="2221669" y="0"/>
                  </a:lnTo>
                  <a:cubicBezTo>
                    <a:pt x="2231485" y="0"/>
                    <a:pt x="2240899" y="3900"/>
                    <a:pt x="2247841" y="10841"/>
                  </a:cubicBezTo>
                  <a:cubicBezTo>
                    <a:pt x="2254782" y="17782"/>
                    <a:pt x="2258682" y="27196"/>
                    <a:pt x="2258682" y="37013"/>
                  </a:cubicBezTo>
                  <a:lnTo>
                    <a:pt x="2258682" y="775787"/>
                  </a:lnTo>
                  <a:cubicBezTo>
                    <a:pt x="2258682" y="796229"/>
                    <a:pt x="2242110" y="812800"/>
                    <a:pt x="2221669" y="812800"/>
                  </a:cubicBezTo>
                  <a:lnTo>
                    <a:pt x="37013" y="812800"/>
                  </a:lnTo>
                  <a:cubicBezTo>
                    <a:pt x="27196" y="812800"/>
                    <a:pt x="17782" y="808900"/>
                    <a:pt x="10841" y="801959"/>
                  </a:cubicBezTo>
                  <a:cubicBezTo>
                    <a:pt x="3900" y="795018"/>
                    <a:pt x="0" y="785604"/>
                    <a:pt x="0" y="775787"/>
                  </a:cubicBezTo>
                  <a:lnTo>
                    <a:pt x="0" y="37013"/>
                  </a:lnTo>
                  <a:cubicBezTo>
                    <a:pt x="0" y="27196"/>
                    <a:pt x="3900" y="17782"/>
                    <a:pt x="10841" y="10841"/>
                  </a:cubicBezTo>
                  <a:cubicBezTo>
                    <a:pt x="17782" y="3900"/>
                    <a:pt x="27196" y="0"/>
                    <a:pt x="37013" y="0"/>
                  </a:cubicBezTo>
                  <a:close/>
                </a:path>
              </a:pathLst>
            </a:custGeom>
            <a:solidFill>
              <a:srgbClr val="106861"/>
            </a:solidFill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258681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208066" y="3916103"/>
            <a:ext cx="7871867" cy="177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39"/>
              </a:lnSpc>
              <a:spcBef>
                <a:spcPct val="0"/>
              </a:spcBef>
            </a:pPr>
            <a:r>
              <a:rPr lang="en-US" b="true" sz="1046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Certificates</a:t>
            </a:r>
          </a:p>
        </p:txBody>
      </p:sp>
    </p:spTree>
  </p:cSld>
  <p:clrMapOvr>
    <a:masterClrMapping/>
  </p:clrMapOvr>
  <p:transition spd="slow">
    <p:push dir="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03901" y="3504728"/>
            <a:ext cx="3293700" cy="6611441"/>
          </a:xfrm>
          <a:custGeom>
            <a:avLst/>
            <a:gdLst/>
            <a:ahLst/>
            <a:cxnLst/>
            <a:rect r="r" b="b" t="t" l="l"/>
            <a:pathLst>
              <a:path h="6611441" w="3293700">
                <a:moveTo>
                  <a:pt x="0" y="0"/>
                </a:moveTo>
                <a:lnTo>
                  <a:pt x="3293700" y="0"/>
                </a:lnTo>
                <a:lnTo>
                  <a:pt x="3293700" y="6611442"/>
                </a:lnTo>
                <a:lnTo>
                  <a:pt x="0" y="66114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801378" y="-610072"/>
            <a:ext cx="3299321" cy="4114800"/>
          </a:xfrm>
          <a:custGeom>
            <a:avLst/>
            <a:gdLst/>
            <a:ahLst/>
            <a:cxnLst/>
            <a:rect r="r" b="b" t="t" l="l"/>
            <a:pathLst>
              <a:path h="4114800" w="3299321">
                <a:moveTo>
                  <a:pt x="0" y="0"/>
                </a:moveTo>
                <a:lnTo>
                  <a:pt x="3299321" y="0"/>
                </a:lnTo>
                <a:lnTo>
                  <a:pt x="32993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547193" y="717976"/>
            <a:ext cx="12607460" cy="8851047"/>
          </a:xfrm>
          <a:custGeom>
            <a:avLst/>
            <a:gdLst/>
            <a:ahLst/>
            <a:cxnLst/>
            <a:rect r="r" b="b" t="t" l="l"/>
            <a:pathLst>
              <a:path h="8851047" w="12607460">
                <a:moveTo>
                  <a:pt x="0" y="0"/>
                </a:moveTo>
                <a:lnTo>
                  <a:pt x="12607459" y="0"/>
                </a:lnTo>
                <a:lnTo>
                  <a:pt x="12607459" y="8851048"/>
                </a:lnTo>
                <a:lnTo>
                  <a:pt x="0" y="88510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r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08960" y="-244102"/>
            <a:ext cx="8956821" cy="11772679"/>
            <a:chOff x="0" y="0"/>
            <a:chExt cx="2171400" cy="28540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1400" cy="2854048"/>
            </a:xfrm>
            <a:custGeom>
              <a:avLst/>
              <a:gdLst/>
              <a:ahLst/>
              <a:cxnLst/>
              <a:rect r="r" b="b" t="t" l="l"/>
              <a:pathLst>
                <a:path h="2854048" w="2171400">
                  <a:moveTo>
                    <a:pt x="37167" y="0"/>
                  </a:moveTo>
                  <a:lnTo>
                    <a:pt x="2134233" y="0"/>
                  </a:lnTo>
                  <a:cubicBezTo>
                    <a:pt x="2154760" y="0"/>
                    <a:pt x="2171400" y="16640"/>
                    <a:pt x="2171400" y="37167"/>
                  </a:cubicBezTo>
                  <a:lnTo>
                    <a:pt x="2171400" y="2816880"/>
                  </a:lnTo>
                  <a:cubicBezTo>
                    <a:pt x="2171400" y="2826738"/>
                    <a:pt x="2167484" y="2836192"/>
                    <a:pt x="2160514" y="2843162"/>
                  </a:cubicBezTo>
                  <a:cubicBezTo>
                    <a:pt x="2153544" y="2850132"/>
                    <a:pt x="2144090" y="2854048"/>
                    <a:pt x="2134233" y="2854048"/>
                  </a:cubicBezTo>
                  <a:lnTo>
                    <a:pt x="37167" y="2854048"/>
                  </a:lnTo>
                  <a:cubicBezTo>
                    <a:pt x="27310" y="2854048"/>
                    <a:pt x="17856" y="2850132"/>
                    <a:pt x="10886" y="2843162"/>
                  </a:cubicBezTo>
                  <a:cubicBezTo>
                    <a:pt x="3916" y="2836192"/>
                    <a:pt x="0" y="2826738"/>
                    <a:pt x="0" y="2816880"/>
                  </a:cubicBezTo>
                  <a:lnTo>
                    <a:pt x="0" y="37167"/>
                  </a:lnTo>
                  <a:cubicBezTo>
                    <a:pt x="0" y="27310"/>
                    <a:pt x="3916" y="17856"/>
                    <a:pt x="10886" y="10886"/>
                  </a:cubicBezTo>
                  <a:cubicBezTo>
                    <a:pt x="17856" y="3916"/>
                    <a:pt x="27310" y="0"/>
                    <a:pt x="37167" y="0"/>
                  </a:cubicBezTo>
                  <a:close/>
                </a:path>
              </a:pathLst>
            </a:custGeom>
            <a:solidFill>
              <a:srgbClr val="106861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71400" cy="2873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334905" y="5642237"/>
            <a:ext cx="2264637" cy="1659361"/>
          </a:xfrm>
          <a:custGeom>
            <a:avLst/>
            <a:gdLst/>
            <a:ahLst/>
            <a:cxnLst/>
            <a:rect r="r" b="b" t="t" l="l"/>
            <a:pathLst>
              <a:path h="1659361" w="2264637">
                <a:moveTo>
                  <a:pt x="0" y="0"/>
                </a:moveTo>
                <a:lnTo>
                  <a:pt x="2264637" y="0"/>
                </a:lnTo>
                <a:lnTo>
                  <a:pt x="2264637" y="1659362"/>
                </a:lnTo>
                <a:lnTo>
                  <a:pt x="0" y="16593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54575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1090" y="666996"/>
            <a:ext cx="8291663" cy="685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2"/>
              </a:lnSpc>
              <a:spcBef>
                <a:spcPct val="0"/>
              </a:spcBef>
            </a:pPr>
            <a:r>
              <a:rPr lang="en-US" b="true" sz="427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Learnings from the Internship : -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5711" y="2033753"/>
            <a:ext cx="7659943" cy="786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07" indent="-224154" lvl="1">
              <a:lnSpc>
                <a:spcPts val="2699"/>
              </a:lnSpc>
              <a:buFont typeface="Arial"/>
              <a:buChar char="•"/>
            </a:pPr>
            <a:r>
              <a:rPr lang="en-US" sz="207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Framing the Business Scenario</a:t>
            </a:r>
          </a:p>
          <a:p>
            <a:pPr algn="l">
              <a:lnSpc>
                <a:spcPts val="2578"/>
              </a:lnSpc>
              <a:spcBef>
                <a:spcPct val="0"/>
              </a:spcBef>
            </a:pPr>
          </a:p>
          <a:p>
            <a:pPr algn="l">
              <a:lnSpc>
                <a:spcPts val="2458"/>
              </a:lnSpc>
              <a:spcBef>
                <a:spcPct val="0"/>
              </a:spcBef>
            </a:pPr>
            <a:r>
              <a:rPr lang="en-US" sz="189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This task involved understanding the context of a business problem and identifying the key data points required to effectively analyze the situation.</a:t>
            </a:r>
          </a:p>
          <a:p>
            <a:pPr algn="l">
              <a:lnSpc>
                <a:spcPts val="2578"/>
              </a:lnSpc>
              <a:spcBef>
                <a:spcPct val="0"/>
              </a:spcBef>
            </a:pPr>
          </a:p>
          <a:p>
            <a:pPr algn="l" marL="448307" indent="-224154" lvl="1">
              <a:lnSpc>
                <a:spcPts val="2699"/>
              </a:lnSpc>
              <a:buFont typeface="Arial"/>
              <a:buChar char="•"/>
            </a:pPr>
            <a:r>
              <a:rPr lang="en-US" sz="207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Choosing the Right Visuals</a:t>
            </a:r>
          </a:p>
          <a:p>
            <a:pPr algn="l">
              <a:lnSpc>
                <a:spcPts val="2458"/>
              </a:lnSpc>
              <a:spcBef>
                <a:spcPct val="0"/>
              </a:spcBef>
            </a:pPr>
          </a:p>
          <a:p>
            <a:pPr algn="l">
              <a:lnSpc>
                <a:spcPts val="2458"/>
              </a:lnSpc>
              <a:spcBef>
                <a:spcPct val="0"/>
              </a:spcBef>
            </a:pPr>
            <a:r>
              <a:rPr lang="en-US" sz="189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This task focused on selecting the appropriate data visualization techniques based on the nature of the nature of the data and the insights to be conveyed.</a:t>
            </a:r>
          </a:p>
          <a:p>
            <a:pPr algn="l">
              <a:lnSpc>
                <a:spcPts val="2458"/>
              </a:lnSpc>
              <a:spcBef>
                <a:spcPct val="0"/>
              </a:spcBef>
            </a:pPr>
          </a:p>
          <a:p>
            <a:pPr algn="l" marL="448307" indent="-224154" lvl="1">
              <a:lnSpc>
                <a:spcPts val="2699"/>
              </a:lnSpc>
              <a:buFont typeface="Arial"/>
              <a:buChar char="•"/>
            </a:pPr>
            <a:r>
              <a:rPr lang="en-US" sz="207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Creating Effective Visuals</a:t>
            </a:r>
          </a:p>
          <a:p>
            <a:pPr algn="l">
              <a:lnSpc>
                <a:spcPts val="2458"/>
              </a:lnSpc>
              <a:spcBef>
                <a:spcPct val="0"/>
              </a:spcBef>
            </a:pPr>
          </a:p>
          <a:p>
            <a:pPr algn="l">
              <a:lnSpc>
                <a:spcPts val="2458"/>
              </a:lnSpc>
              <a:spcBef>
                <a:spcPct val="0"/>
              </a:spcBef>
            </a:pPr>
            <a:r>
              <a:rPr lang="en-US" sz="189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This task required creating visually appealing and insightful data visualizations using tools like Tableau and Power Bl, ensuring clarity and accuracy.</a:t>
            </a:r>
          </a:p>
          <a:p>
            <a:pPr algn="l">
              <a:lnSpc>
                <a:spcPts val="2578"/>
              </a:lnSpc>
              <a:spcBef>
                <a:spcPct val="0"/>
              </a:spcBef>
            </a:pPr>
          </a:p>
          <a:p>
            <a:pPr algn="l" marL="448307" indent="-224154" lvl="1">
              <a:lnSpc>
                <a:spcPts val="2699"/>
              </a:lnSpc>
              <a:buFont typeface="Arial"/>
              <a:buChar char="•"/>
            </a:pPr>
            <a:r>
              <a:rPr lang="en-US" sz="207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Communicating Insights and Analysis</a:t>
            </a:r>
          </a:p>
          <a:p>
            <a:pPr algn="l">
              <a:lnSpc>
                <a:spcPts val="2458"/>
              </a:lnSpc>
              <a:spcBef>
                <a:spcPct val="0"/>
              </a:spcBef>
            </a:pPr>
          </a:p>
          <a:p>
            <a:pPr algn="l">
              <a:lnSpc>
                <a:spcPts val="2458"/>
              </a:lnSpc>
              <a:spcBef>
                <a:spcPct val="0"/>
              </a:spcBef>
            </a:pPr>
            <a:r>
              <a:rPr lang="en-US" sz="189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This task involved effectively communicating the findings of the data analysis through clear and concise presentations, highlighting key takeaways and recommendations.</a:t>
            </a:r>
          </a:p>
          <a:p>
            <a:pPr algn="l">
              <a:lnSpc>
                <a:spcPts val="2718"/>
              </a:lnSpc>
              <a:spcBef>
                <a:spcPct val="0"/>
              </a:spcBef>
            </a:pPr>
          </a:p>
          <a:p>
            <a:pPr algn="l">
              <a:lnSpc>
                <a:spcPts val="2718"/>
              </a:lnSpc>
              <a:spcBef>
                <a:spcPct val="0"/>
              </a:spcBef>
            </a:pPr>
          </a:p>
          <a:p>
            <a:pPr algn="l">
              <a:lnSpc>
                <a:spcPts val="2458"/>
              </a:lnSpc>
              <a:spcBef>
                <a:spcPct val="0"/>
              </a:spcBef>
            </a:pPr>
          </a:p>
          <a:p>
            <a:pPr algn="l">
              <a:lnSpc>
                <a:spcPts val="2458"/>
              </a:lnSpc>
              <a:spcBef>
                <a:spcPct val="0"/>
              </a:spcBef>
            </a:pPr>
          </a:p>
          <a:p>
            <a:pPr algn="l">
              <a:lnSpc>
                <a:spcPts val="2458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77219" y="3980118"/>
            <a:ext cx="6064231" cy="92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49"/>
              </a:lnSpc>
              <a:spcBef>
                <a:spcPct val="0"/>
              </a:spcBef>
            </a:pPr>
            <a:r>
              <a:rPr lang="en-US" b="true" sz="5392" spc="-107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Skills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43277" y="4614617"/>
            <a:ext cx="6064231" cy="35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1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-1997137" y="7075637"/>
            <a:ext cx="5578401" cy="557840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42950" cap="sq">
              <a:solidFill>
                <a:srgbClr val="106861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684175" y="7005833"/>
            <a:ext cx="452472" cy="45247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6861"/>
            </a:solidFill>
            <a:ln w="742950" cap="sq">
              <a:solidFill>
                <a:srgbClr val="10686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017929" y="-2533783"/>
            <a:ext cx="5002094" cy="500209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6861">
                <a:alpha val="32941"/>
              </a:srgbClr>
            </a:solidFill>
            <a:ln w="742950" cap="sq">
              <a:solidFill>
                <a:srgbClr val="106861">
                  <a:alpha val="32941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9028187" y="3444554"/>
            <a:ext cx="5128563" cy="381636"/>
          </a:xfrm>
          <a:custGeom>
            <a:avLst/>
            <a:gdLst/>
            <a:ahLst/>
            <a:cxnLst/>
            <a:rect r="r" b="b" t="t" l="l"/>
            <a:pathLst>
              <a:path h="381636" w="5128563">
                <a:moveTo>
                  <a:pt x="0" y="0"/>
                </a:moveTo>
                <a:lnTo>
                  <a:pt x="5128564" y="0"/>
                </a:lnTo>
                <a:lnTo>
                  <a:pt x="5128564" y="381637"/>
                </a:lnTo>
                <a:lnTo>
                  <a:pt x="0" y="381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-286352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921546" y="1425268"/>
            <a:ext cx="5334876" cy="2086085"/>
            <a:chOff x="0" y="0"/>
            <a:chExt cx="1234628" cy="4827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34628" cy="482774"/>
            </a:xfrm>
            <a:custGeom>
              <a:avLst/>
              <a:gdLst/>
              <a:ahLst/>
              <a:cxnLst/>
              <a:rect r="r" b="b" t="t" l="l"/>
              <a:pathLst>
                <a:path h="482774" w="1234628">
                  <a:moveTo>
                    <a:pt x="46438" y="0"/>
                  </a:moveTo>
                  <a:lnTo>
                    <a:pt x="1188190" y="0"/>
                  </a:lnTo>
                  <a:cubicBezTo>
                    <a:pt x="1213837" y="0"/>
                    <a:pt x="1234628" y="20791"/>
                    <a:pt x="1234628" y="46438"/>
                  </a:cubicBezTo>
                  <a:lnTo>
                    <a:pt x="1234628" y="436336"/>
                  </a:lnTo>
                  <a:cubicBezTo>
                    <a:pt x="1234628" y="461983"/>
                    <a:pt x="1213837" y="482774"/>
                    <a:pt x="1188190" y="482774"/>
                  </a:cubicBezTo>
                  <a:lnTo>
                    <a:pt x="46438" y="482774"/>
                  </a:lnTo>
                  <a:cubicBezTo>
                    <a:pt x="20791" y="482774"/>
                    <a:pt x="0" y="461983"/>
                    <a:pt x="0" y="436336"/>
                  </a:cubicBezTo>
                  <a:lnTo>
                    <a:pt x="0" y="46438"/>
                  </a:lnTo>
                  <a:cubicBezTo>
                    <a:pt x="0" y="20791"/>
                    <a:pt x="20791" y="0"/>
                    <a:pt x="46438" y="0"/>
                  </a:cubicBezTo>
                  <a:close/>
                </a:path>
              </a:pathLst>
            </a:custGeom>
            <a:solidFill>
              <a:srgbClr val="FFFFFF"/>
            </a:solidFill>
            <a:ln w="104775" cap="rnd">
              <a:solidFill>
                <a:srgbClr val="106861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34628" cy="520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307532" y="1878174"/>
            <a:ext cx="1228028" cy="1226514"/>
            <a:chOff x="0" y="0"/>
            <a:chExt cx="323431" cy="3230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3431" cy="323032"/>
            </a:xfrm>
            <a:custGeom>
              <a:avLst/>
              <a:gdLst/>
              <a:ahLst/>
              <a:cxnLst/>
              <a:rect r="r" b="b" t="t" l="l"/>
              <a:pathLst>
                <a:path h="323032" w="323431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14300"/>
              <a:ext cx="323431" cy="437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076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667546" y="2179975"/>
            <a:ext cx="4183100" cy="1007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65"/>
              </a:lnSpc>
              <a:spcBef>
                <a:spcPct val="0"/>
              </a:spcBef>
            </a:pPr>
            <a:r>
              <a:rPr lang="en-US" sz="1613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I gained expertise in analyzing and interpreting data, presenting findings in a clear and concise manner to communicate insights effectively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67546" y="1715095"/>
            <a:ext cx="4100514" cy="75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57" b="true">
                <a:solidFill>
                  <a:srgbClr val="3332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Analysis &amp; Presentation</a:t>
            </a:r>
          </a:p>
          <a:p>
            <a:pPr algn="l" marL="0" indent="0" lvl="0">
              <a:lnSpc>
                <a:spcPts val="3017"/>
              </a:lnSpc>
              <a:spcBef>
                <a:spcPct val="0"/>
              </a:spcBef>
            </a:pPr>
          </a:p>
        </p:txBody>
      </p:sp>
      <p:sp>
        <p:nvSpPr>
          <p:cNvPr name="Freeform 22" id="22"/>
          <p:cNvSpPr/>
          <p:nvPr/>
        </p:nvSpPr>
        <p:spPr>
          <a:xfrm flipH="false" flipV="false" rot="-10800000">
            <a:off x="9028187" y="5940727"/>
            <a:ext cx="5128563" cy="381636"/>
          </a:xfrm>
          <a:custGeom>
            <a:avLst/>
            <a:gdLst/>
            <a:ahLst/>
            <a:cxnLst/>
            <a:rect r="r" b="b" t="t" l="l"/>
            <a:pathLst>
              <a:path h="381636" w="5128563">
                <a:moveTo>
                  <a:pt x="0" y="0"/>
                </a:moveTo>
                <a:lnTo>
                  <a:pt x="5128564" y="0"/>
                </a:lnTo>
                <a:lnTo>
                  <a:pt x="5128564" y="381637"/>
                </a:lnTo>
                <a:lnTo>
                  <a:pt x="0" y="381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-286352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8921546" y="3921441"/>
            <a:ext cx="5334876" cy="2086085"/>
            <a:chOff x="0" y="0"/>
            <a:chExt cx="1234628" cy="48277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34628" cy="482774"/>
            </a:xfrm>
            <a:custGeom>
              <a:avLst/>
              <a:gdLst/>
              <a:ahLst/>
              <a:cxnLst/>
              <a:rect r="r" b="b" t="t" l="l"/>
              <a:pathLst>
                <a:path h="482774" w="1234628">
                  <a:moveTo>
                    <a:pt x="46438" y="0"/>
                  </a:moveTo>
                  <a:lnTo>
                    <a:pt x="1188190" y="0"/>
                  </a:lnTo>
                  <a:cubicBezTo>
                    <a:pt x="1213837" y="0"/>
                    <a:pt x="1234628" y="20791"/>
                    <a:pt x="1234628" y="46438"/>
                  </a:cubicBezTo>
                  <a:lnTo>
                    <a:pt x="1234628" y="436336"/>
                  </a:lnTo>
                  <a:cubicBezTo>
                    <a:pt x="1234628" y="461983"/>
                    <a:pt x="1213837" y="482774"/>
                    <a:pt x="1188190" y="482774"/>
                  </a:cubicBezTo>
                  <a:lnTo>
                    <a:pt x="46438" y="482774"/>
                  </a:lnTo>
                  <a:cubicBezTo>
                    <a:pt x="20791" y="482774"/>
                    <a:pt x="0" y="461983"/>
                    <a:pt x="0" y="436336"/>
                  </a:cubicBezTo>
                  <a:lnTo>
                    <a:pt x="0" y="46438"/>
                  </a:lnTo>
                  <a:cubicBezTo>
                    <a:pt x="0" y="20791"/>
                    <a:pt x="20791" y="0"/>
                    <a:pt x="46438" y="0"/>
                  </a:cubicBezTo>
                  <a:close/>
                </a:path>
              </a:pathLst>
            </a:custGeom>
            <a:solidFill>
              <a:srgbClr val="FFFFFF"/>
            </a:solidFill>
            <a:ln w="104775" cap="rnd">
              <a:solidFill>
                <a:srgbClr val="106861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234628" cy="520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307532" y="4374347"/>
            <a:ext cx="1228028" cy="1226514"/>
            <a:chOff x="0" y="0"/>
            <a:chExt cx="323431" cy="3230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3431" cy="323032"/>
            </a:xfrm>
            <a:custGeom>
              <a:avLst/>
              <a:gdLst/>
              <a:ahLst/>
              <a:cxnLst/>
              <a:rect r="r" b="b" t="t" l="l"/>
              <a:pathLst>
                <a:path h="323032" w="323431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14300"/>
              <a:ext cx="323431" cy="437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076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626254" y="4847025"/>
            <a:ext cx="4183100" cy="75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65"/>
              </a:lnSpc>
              <a:spcBef>
                <a:spcPct val="0"/>
              </a:spcBef>
            </a:pPr>
            <a:r>
              <a:rPr lang="en-US" sz="1613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I learned to extract valuable insights from data, identifying trends, patterns, and anomalies to inform decision-making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67546" y="4211268"/>
            <a:ext cx="4100514" cy="75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57" b="true">
                <a:solidFill>
                  <a:srgbClr val="3332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Analytics &amp; Insights</a:t>
            </a:r>
          </a:p>
          <a:p>
            <a:pPr algn="l" marL="0" indent="0" lvl="0">
              <a:lnSpc>
                <a:spcPts val="3017"/>
              </a:lnSpc>
              <a:spcBef>
                <a:spcPct val="0"/>
              </a:spcBef>
            </a:pP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8520301" y="4492659"/>
            <a:ext cx="943649" cy="943649"/>
          </a:xfrm>
          <a:custGeom>
            <a:avLst/>
            <a:gdLst/>
            <a:ahLst/>
            <a:cxnLst/>
            <a:rect r="r" b="b" t="t" l="l"/>
            <a:pathLst>
              <a:path h="943649" w="943649">
                <a:moveTo>
                  <a:pt x="0" y="0"/>
                </a:moveTo>
                <a:lnTo>
                  <a:pt x="943649" y="0"/>
                </a:lnTo>
                <a:lnTo>
                  <a:pt x="943649" y="943649"/>
                </a:lnTo>
                <a:lnTo>
                  <a:pt x="0" y="9436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2" id="32"/>
          <p:cNvSpPr/>
          <p:nvPr/>
        </p:nvSpPr>
        <p:spPr>
          <a:xfrm flipH="false" flipV="false" rot="-10800000">
            <a:off x="9028187" y="8598825"/>
            <a:ext cx="5128563" cy="381636"/>
          </a:xfrm>
          <a:custGeom>
            <a:avLst/>
            <a:gdLst/>
            <a:ahLst/>
            <a:cxnLst/>
            <a:rect r="r" b="b" t="t" l="l"/>
            <a:pathLst>
              <a:path h="381636" w="5128563">
                <a:moveTo>
                  <a:pt x="0" y="0"/>
                </a:moveTo>
                <a:lnTo>
                  <a:pt x="5128564" y="0"/>
                </a:lnTo>
                <a:lnTo>
                  <a:pt x="5128564" y="381636"/>
                </a:lnTo>
                <a:lnTo>
                  <a:pt x="0" y="381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-286352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8921546" y="6579539"/>
            <a:ext cx="5334876" cy="2086085"/>
            <a:chOff x="0" y="0"/>
            <a:chExt cx="1234628" cy="48277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34628" cy="482774"/>
            </a:xfrm>
            <a:custGeom>
              <a:avLst/>
              <a:gdLst/>
              <a:ahLst/>
              <a:cxnLst/>
              <a:rect r="r" b="b" t="t" l="l"/>
              <a:pathLst>
                <a:path h="482774" w="1234628">
                  <a:moveTo>
                    <a:pt x="46438" y="0"/>
                  </a:moveTo>
                  <a:lnTo>
                    <a:pt x="1188190" y="0"/>
                  </a:lnTo>
                  <a:cubicBezTo>
                    <a:pt x="1213837" y="0"/>
                    <a:pt x="1234628" y="20791"/>
                    <a:pt x="1234628" y="46438"/>
                  </a:cubicBezTo>
                  <a:lnTo>
                    <a:pt x="1234628" y="436336"/>
                  </a:lnTo>
                  <a:cubicBezTo>
                    <a:pt x="1234628" y="461983"/>
                    <a:pt x="1213837" y="482774"/>
                    <a:pt x="1188190" y="482774"/>
                  </a:cubicBezTo>
                  <a:lnTo>
                    <a:pt x="46438" y="482774"/>
                  </a:lnTo>
                  <a:cubicBezTo>
                    <a:pt x="20791" y="482774"/>
                    <a:pt x="0" y="461983"/>
                    <a:pt x="0" y="436336"/>
                  </a:cubicBezTo>
                  <a:lnTo>
                    <a:pt x="0" y="46438"/>
                  </a:lnTo>
                  <a:cubicBezTo>
                    <a:pt x="0" y="20791"/>
                    <a:pt x="20791" y="0"/>
                    <a:pt x="46438" y="0"/>
                  </a:cubicBezTo>
                  <a:close/>
                </a:path>
              </a:pathLst>
            </a:custGeom>
            <a:solidFill>
              <a:srgbClr val="FFFFFF"/>
            </a:solidFill>
            <a:ln w="104775" cap="rnd">
              <a:solidFill>
                <a:srgbClr val="106861"/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234628" cy="520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307532" y="7032444"/>
            <a:ext cx="1228028" cy="1226514"/>
            <a:chOff x="0" y="0"/>
            <a:chExt cx="323431" cy="32303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23431" cy="323032"/>
            </a:xfrm>
            <a:custGeom>
              <a:avLst/>
              <a:gdLst/>
              <a:ahLst/>
              <a:cxnLst/>
              <a:rect r="r" b="b" t="t" l="l"/>
              <a:pathLst>
                <a:path h="323032" w="323431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14300"/>
              <a:ext cx="323431" cy="437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076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584961" y="7351064"/>
            <a:ext cx="4183100" cy="75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65"/>
              </a:lnSpc>
              <a:spcBef>
                <a:spcPct val="0"/>
              </a:spcBef>
            </a:pPr>
            <a:r>
              <a:rPr lang="en-US" sz="1613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I learned to extract valuable insights from data, identifying trends, patterns, and anomalies to inform decision-making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667546" y="6869366"/>
            <a:ext cx="4100514" cy="75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57" b="true">
                <a:solidFill>
                  <a:srgbClr val="3332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Visual Basics</a:t>
            </a:r>
          </a:p>
          <a:p>
            <a:pPr algn="l" marL="0" indent="0" lvl="0">
              <a:lnSpc>
                <a:spcPts val="3017"/>
              </a:lnSpc>
              <a:spcBef>
                <a:spcPct val="0"/>
              </a:spcBef>
            </a:pP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8571284" y="7189139"/>
            <a:ext cx="841683" cy="852533"/>
          </a:xfrm>
          <a:custGeom>
            <a:avLst/>
            <a:gdLst/>
            <a:ahLst/>
            <a:cxnLst/>
            <a:rect r="r" b="b" t="t" l="l"/>
            <a:pathLst>
              <a:path h="852533" w="841683">
                <a:moveTo>
                  <a:pt x="0" y="0"/>
                </a:moveTo>
                <a:lnTo>
                  <a:pt x="841683" y="0"/>
                </a:lnTo>
                <a:lnTo>
                  <a:pt x="841683" y="852533"/>
                </a:lnTo>
                <a:lnTo>
                  <a:pt x="0" y="8525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2" id="42"/>
          <p:cNvSpPr/>
          <p:nvPr/>
        </p:nvSpPr>
        <p:spPr>
          <a:xfrm flipH="false" flipV="false" rot="0">
            <a:off x="8571284" y="2050422"/>
            <a:ext cx="841683" cy="841683"/>
          </a:xfrm>
          <a:custGeom>
            <a:avLst/>
            <a:gdLst/>
            <a:ahLst/>
            <a:cxnLst/>
            <a:rect r="r" b="b" t="t" l="l"/>
            <a:pathLst>
              <a:path h="841683" w="841683">
                <a:moveTo>
                  <a:pt x="0" y="0"/>
                </a:moveTo>
                <a:lnTo>
                  <a:pt x="841683" y="0"/>
                </a:lnTo>
                <a:lnTo>
                  <a:pt x="841683" y="841682"/>
                </a:lnTo>
                <a:lnTo>
                  <a:pt x="0" y="8416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3" id="43"/>
          <p:cNvGrpSpPr/>
          <p:nvPr/>
        </p:nvGrpSpPr>
        <p:grpSpPr>
          <a:xfrm rot="0">
            <a:off x="4809335" y="8388753"/>
            <a:ext cx="1183417" cy="1183417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6861"/>
            </a:solidFill>
            <a:ln w="742950" cap="sq">
              <a:solidFill>
                <a:srgbClr val="106861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777219" y="4959029"/>
            <a:ext cx="3895177" cy="88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  <a:spcBef>
                <a:spcPct val="0"/>
              </a:spcBef>
            </a:pPr>
            <a:r>
              <a:rPr lang="en-US" sz="271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Learning from the Internship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92460" y="2868946"/>
            <a:ext cx="3695540" cy="7418054"/>
          </a:xfrm>
          <a:custGeom>
            <a:avLst/>
            <a:gdLst/>
            <a:ahLst/>
            <a:cxnLst/>
            <a:rect r="r" b="b" t="t" l="l"/>
            <a:pathLst>
              <a:path h="7418054" w="3695540">
                <a:moveTo>
                  <a:pt x="0" y="0"/>
                </a:moveTo>
                <a:lnTo>
                  <a:pt x="3695540" y="0"/>
                </a:lnTo>
                <a:lnTo>
                  <a:pt x="3695540" y="7418054"/>
                </a:lnTo>
                <a:lnTo>
                  <a:pt x="0" y="7418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0800000">
            <a:off x="-465877" y="-4635036"/>
            <a:ext cx="3695540" cy="7418054"/>
          </a:xfrm>
          <a:custGeom>
            <a:avLst/>
            <a:gdLst/>
            <a:ahLst/>
            <a:cxnLst/>
            <a:rect r="r" b="b" t="t" l="l"/>
            <a:pathLst>
              <a:path h="7418054" w="3695540">
                <a:moveTo>
                  <a:pt x="0" y="0"/>
                </a:moveTo>
                <a:lnTo>
                  <a:pt x="3695540" y="0"/>
                </a:lnTo>
                <a:lnTo>
                  <a:pt x="3695540" y="7418054"/>
                </a:lnTo>
                <a:lnTo>
                  <a:pt x="0" y="7418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870137" y="2868946"/>
            <a:ext cx="12519349" cy="6461122"/>
          </a:xfrm>
          <a:custGeom>
            <a:avLst/>
            <a:gdLst/>
            <a:ahLst/>
            <a:cxnLst/>
            <a:rect r="r" b="b" t="t" l="l"/>
            <a:pathLst>
              <a:path h="6461122" w="12519349">
                <a:moveTo>
                  <a:pt x="0" y="0"/>
                </a:moveTo>
                <a:lnTo>
                  <a:pt x="12519348" y="0"/>
                </a:lnTo>
                <a:lnTo>
                  <a:pt x="12519348" y="6461121"/>
                </a:lnTo>
                <a:lnTo>
                  <a:pt x="0" y="64611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645" r="-1468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43713" y="390326"/>
            <a:ext cx="7362789" cy="866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8"/>
              </a:lnSpc>
            </a:pPr>
            <a:r>
              <a:rPr lang="en-US" sz="5127" spc="-102" b="true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95642" y="1655277"/>
            <a:ext cx="10658931" cy="78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5171" indent="-237585" lvl="1">
              <a:lnSpc>
                <a:spcPts val="3301"/>
              </a:lnSpc>
              <a:buFont typeface="Arial"/>
              <a:buChar char="•"/>
            </a:pPr>
            <a:r>
              <a:rPr lang="en-US" sz="2200">
                <a:solidFill>
                  <a:srgbClr val="343432"/>
                </a:solidFill>
                <a:latin typeface="Open Sauce"/>
                <a:ea typeface="Open Sauce"/>
                <a:cs typeface="Open Sauce"/>
                <a:sym typeface="Open Sauce"/>
              </a:rPr>
              <a:t>Create the visuals around the questions the CEO and CMO requested</a:t>
            </a:r>
          </a:p>
          <a:p>
            <a:pPr algn="l" marL="0" indent="0" lvl="0">
              <a:lnSpc>
                <a:spcPts val="3301"/>
              </a:lnSpc>
            </a:pP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19317" y="306064"/>
            <a:ext cx="12449365" cy="9674873"/>
          </a:xfrm>
          <a:custGeom>
            <a:avLst/>
            <a:gdLst/>
            <a:ahLst/>
            <a:cxnLst/>
            <a:rect r="r" b="b" t="t" l="l"/>
            <a:pathLst>
              <a:path h="9674873" w="12449365">
                <a:moveTo>
                  <a:pt x="0" y="0"/>
                </a:moveTo>
                <a:lnTo>
                  <a:pt x="12449366" y="0"/>
                </a:lnTo>
                <a:lnTo>
                  <a:pt x="12449366" y="9674872"/>
                </a:lnTo>
                <a:lnTo>
                  <a:pt x="0" y="9674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8" t="-3230" r="0" b="0"/>
            </a:stretch>
          </a:blipFill>
        </p:spPr>
      </p:sp>
    </p:spTree>
  </p:cSld>
  <p:clrMapOvr>
    <a:masterClrMapping/>
  </p:clrMapOvr>
  <p:transition spd="slow">
    <p:push dir="r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2794" y="392338"/>
            <a:ext cx="7625462" cy="4493190"/>
          </a:xfrm>
          <a:custGeom>
            <a:avLst/>
            <a:gdLst/>
            <a:ahLst/>
            <a:cxnLst/>
            <a:rect r="r" b="b" t="t" l="l"/>
            <a:pathLst>
              <a:path h="4493190" w="7625462">
                <a:moveTo>
                  <a:pt x="0" y="0"/>
                </a:moveTo>
                <a:lnTo>
                  <a:pt x="7625462" y="0"/>
                </a:lnTo>
                <a:lnTo>
                  <a:pt x="7625462" y="4493190"/>
                </a:lnTo>
                <a:lnTo>
                  <a:pt x="0" y="44931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1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70695" y="392338"/>
            <a:ext cx="7888605" cy="4534864"/>
          </a:xfrm>
          <a:custGeom>
            <a:avLst/>
            <a:gdLst/>
            <a:ahLst/>
            <a:cxnLst/>
            <a:rect r="r" b="b" t="t" l="l"/>
            <a:pathLst>
              <a:path h="4534864" w="7888605">
                <a:moveTo>
                  <a:pt x="0" y="0"/>
                </a:moveTo>
                <a:lnTo>
                  <a:pt x="7888605" y="0"/>
                </a:lnTo>
                <a:lnTo>
                  <a:pt x="7888605" y="4534864"/>
                </a:lnTo>
                <a:lnTo>
                  <a:pt x="0" y="4534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2794" y="5328437"/>
            <a:ext cx="7625462" cy="4607958"/>
          </a:xfrm>
          <a:custGeom>
            <a:avLst/>
            <a:gdLst/>
            <a:ahLst/>
            <a:cxnLst/>
            <a:rect r="r" b="b" t="t" l="l"/>
            <a:pathLst>
              <a:path h="4607958" w="7625462">
                <a:moveTo>
                  <a:pt x="0" y="0"/>
                </a:moveTo>
                <a:lnTo>
                  <a:pt x="7625462" y="0"/>
                </a:lnTo>
                <a:lnTo>
                  <a:pt x="7625462" y="4607958"/>
                </a:lnTo>
                <a:lnTo>
                  <a:pt x="0" y="4607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70695" y="5328437"/>
            <a:ext cx="7888605" cy="4698768"/>
          </a:xfrm>
          <a:custGeom>
            <a:avLst/>
            <a:gdLst/>
            <a:ahLst/>
            <a:cxnLst/>
            <a:rect r="r" b="b" t="t" l="l"/>
            <a:pathLst>
              <a:path h="4698768" w="7888605">
                <a:moveTo>
                  <a:pt x="0" y="0"/>
                </a:moveTo>
                <a:lnTo>
                  <a:pt x="7888605" y="0"/>
                </a:lnTo>
                <a:lnTo>
                  <a:pt x="7888605" y="4698769"/>
                </a:lnTo>
                <a:lnTo>
                  <a:pt x="0" y="46987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34506" y="-152491"/>
            <a:ext cx="6642640" cy="10439491"/>
          </a:xfrm>
          <a:custGeom>
            <a:avLst/>
            <a:gdLst/>
            <a:ahLst/>
            <a:cxnLst/>
            <a:rect r="r" b="b" t="t" l="l"/>
            <a:pathLst>
              <a:path h="10439491" w="6642640">
                <a:moveTo>
                  <a:pt x="0" y="0"/>
                </a:moveTo>
                <a:lnTo>
                  <a:pt x="6642640" y="0"/>
                </a:lnTo>
                <a:lnTo>
                  <a:pt x="6642640" y="10439491"/>
                </a:lnTo>
                <a:lnTo>
                  <a:pt x="0" y="10439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6" t="0" r="-238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86666" y="1590255"/>
            <a:ext cx="9915134" cy="933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49"/>
              </a:lnSpc>
              <a:spcBef>
                <a:spcPct val="0"/>
              </a:spcBef>
            </a:pPr>
            <a:r>
              <a:rPr lang="en-US" b="true" sz="4892" spc="-97">
                <a:solidFill>
                  <a:srgbClr val="19191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Plan for future use of learned things...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57022" y="7190842"/>
            <a:ext cx="2731184" cy="4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3"/>
              </a:lnSpc>
              <a:spcBef>
                <a:spcPct val="0"/>
              </a:spcBef>
            </a:pPr>
            <a:r>
              <a:rPr lang="en-US" sz="2438" spc="9">
                <a:solidFill>
                  <a:srgbClr val="FFFBFB"/>
                </a:solidFill>
                <a:latin typeface="Open Sauce"/>
                <a:ea typeface="Open Sauce"/>
                <a:cs typeface="Open Sauce"/>
                <a:sym typeface="Open Sauce"/>
              </a:rPr>
              <a:t>Olivia Wilson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52697" y="7190842"/>
            <a:ext cx="2731184" cy="4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3"/>
              </a:lnSpc>
              <a:spcBef>
                <a:spcPct val="0"/>
              </a:spcBef>
            </a:pPr>
            <a:r>
              <a:rPr lang="en-US" sz="2438" spc="9">
                <a:solidFill>
                  <a:srgbClr val="FFFBFB"/>
                </a:solidFill>
                <a:latin typeface="Open Sauce"/>
                <a:ea typeface="Open Sauce"/>
                <a:cs typeface="Open Sauce"/>
                <a:sym typeface="Open Sauce"/>
              </a:rPr>
              <a:t>Aaron Loeb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12021" y="3519772"/>
            <a:ext cx="9449536" cy="5929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5"/>
              </a:lnSpc>
              <a:spcBef>
                <a:spcPct val="0"/>
              </a:spcBef>
            </a:pPr>
            <a:r>
              <a:rPr lang="en-US" sz="281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 recently participated in Tata's job simulation on the Forage platform, and it was incredibly useful to understand what it might be like to participate on a consulting team at Tata.</a:t>
            </a:r>
          </a:p>
          <a:p>
            <a:pPr algn="l">
              <a:lnSpc>
                <a:spcPts val="3655"/>
              </a:lnSpc>
              <a:spcBef>
                <a:spcPct val="0"/>
              </a:spcBef>
            </a:pPr>
            <a:r>
              <a:rPr lang="en-US" sz="281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 worked on a project to help a retail client review their revenue data to prepare for the future. I created data visuals, practiced using Tableau and PowerBI to represent information, and built my presentation skills in a real-world context.</a:t>
            </a:r>
          </a:p>
          <a:p>
            <a:pPr algn="l">
              <a:lnSpc>
                <a:spcPts val="3655"/>
              </a:lnSpc>
              <a:spcBef>
                <a:spcPct val="0"/>
              </a:spcBef>
            </a:pPr>
            <a:r>
              <a:rPr lang="en-US" sz="281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Doing this program confirmed that I really enjoy working on strategic problems for clients and I'm excited to apply these skills on a consulting team at a company like Tata.</a:t>
            </a:r>
          </a:p>
        </p:txBody>
      </p:sp>
    </p:spTree>
  </p:cSld>
  <p:clrMapOvr>
    <a:masterClrMapping/>
  </p:clrMapOvr>
  <p:transition spd="slow">
    <p:push dir="r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7532" y="1878174"/>
            <a:ext cx="1228028" cy="1226514"/>
            <a:chOff x="0" y="0"/>
            <a:chExt cx="323431" cy="323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3431" cy="323032"/>
            </a:xfrm>
            <a:custGeom>
              <a:avLst/>
              <a:gdLst/>
              <a:ahLst/>
              <a:cxnLst/>
              <a:rect r="r" b="b" t="t" l="l"/>
              <a:pathLst>
                <a:path h="323032" w="323431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323431" cy="437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07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307532" y="4374347"/>
            <a:ext cx="1228028" cy="1226514"/>
            <a:chOff x="0" y="0"/>
            <a:chExt cx="323431" cy="3230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3431" cy="323032"/>
            </a:xfrm>
            <a:custGeom>
              <a:avLst/>
              <a:gdLst/>
              <a:ahLst/>
              <a:cxnLst/>
              <a:rect r="r" b="b" t="t" l="l"/>
              <a:pathLst>
                <a:path h="323032" w="323431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323431" cy="437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07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307532" y="7032444"/>
            <a:ext cx="1228028" cy="1226514"/>
            <a:chOff x="0" y="0"/>
            <a:chExt cx="323431" cy="3230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3431" cy="323032"/>
            </a:xfrm>
            <a:custGeom>
              <a:avLst/>
              <a:gdLst/>
              <a:ahLst/>
              <a:cxnLst/>
              <a:rect r="r" b="b" t="t" l="l"/>
              <a:pathLst>
                <a:path h="323032" w="323431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323431" cy="437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07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0" y="-32736"/>
            <a:ext cx="7034839" cy="10552259"/>
          </a:xfrm>
          <a:custGeom>
            <a:avLst/>
            <a:gdLst/>
            <a:ahLst/>
            <a:cxnLst/>
            <a:rect r="r" b="b" t="t" l="l"/>
            <a:pathLst>
              <a:path h="10552259" w="7034839">
                <a:moveTo>
                  <a:pt x="0" y="0"/>
                </a:moveTo>
                <a:lnTo>
                  <a:pt x="7034839" y="0"/>
                </a:lnTo>
                <a:lnTo>
                  <a:pt x="7034839" y="10552259"/>
                </a:lnTo>
                <a:lnTo>
                  <a:pt x="0" y="105522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938397" y="2256962"/>
            <a:ext cx="8749894" cy="726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9081" indent="-234541" lvl="1">
              <a:lnSpc>
                <a:spcPts val="2824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Tata Data Visualization: </a:t>
            </a:r>
          </a:p>
          <a:p>
            <a:pPr algn="l">
              <a:lnSpc>
                <a:spcPts val="2452"/>
              </a:lnSpc>
              <a:spcBef>
                <a:spcPct val="0"/>
              </a:spcBef>
            </a:pPr>
          </a:p>
          <a:p>
            <a:pPr algn="l">
              <a:lnSpc>
                <a:spcPts val="2452"/>
              </a:lnSpc>
              <a:spcBef>
                <a:spcPct val="0"/>
              </a:spcBef>
            </a:pPr>
            <a:r>
              <a:rPr lang="en-US" sz="188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 participated in a job simulation on the Forage platform, immersing myself in a realistic scenario involving data visualization for a retail client.</a:t>
            </a:r>
          </a:p>
          <a:p>
            <a:pPr algn="l">
              <a:lnSpc>
                <a:spcPts val="2452"/>
              </a:lnSpc>
              <a:spcBef>
                <a:spcPct val="0"/>
              </a:spcBef>
            </a:pPr>
          </a:p>
          <a:p>
            <a:pPr algn="l" marL="469081" indent="-234541" lvl="1">
              <a:lnSpc>
                <a:spcPts val="2824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Presenting to Client Senior Leadership</a:t>
            </a:r>
          </a:p>
          <a:p>
            <a:pPr algn="l">
              <a:lnSpc>
                <a:spcPts val="2452"/>
              </a:lnSpc>
              <a:spcBef>
                <a:spcPct val="0"/>
              </a:spcBef>
            </a:pPr>
          </a:p>
          <a:p>
            <a:pPr algn="l">
              <a:lnSpc>
                <a:spcPts val="2452"/>
              </a:lnSpc>
              <a:spcBef>
                <a:spcPct val="0"/>
              </a:spcBef>
            </a:pPr>
            <a:r>
              <a:rPr lang="en-US" sz="188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 prepared questions for a meeting with client senior leadership, ensuring I could effectively communicate my analysis and recommendations.</a:t>
            </a:r>
          </a:p>
          <a:p>
            <a:pPr algn="l">
              <a:lnSpc>
                <a:spcPts val="2452"/>
              </a:lnSpc>
              <a:spcBef>
                <a:spcPct val="0"/>
              </a:spcBef>
            </a:pPr>
          </a:p>
          <a:p>
            <a:pPr algn="l" marL="469081" indent="-234541" lvl="1">
              <a:lnSpc>
                <a:spcPts val="2824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Effective Decision-Making </a:t>
            </a:r>
          </a:p>
          <a:p>
            <a:pPr algn="l">
              <a:lnSpc>
                <a:spcPts val="2452"/>
              </a:lnSpc>
              <a:spcBef>
                <a:spcPct val="0"/>
              </a:spcBef>
            </a:pPr>
          </a:p>
          <a:p>
            <a:pPr algn="l">
              <a:lnSpc>
                <a:spcPts val="2452"/>
              </a:lnSpc>
              <a:spcBef>
                <a:spcPct val="0"/>
              </a:spcBef>
            </a:pPr>
            <a:r>
              <a:rPr lang="en-US" sz="188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My visualizations helped executives make data-driven decisions, contributing to the client's success.</a:t>
            </a:r>
          </a:p>
          <a:p>
            <a:pPr algn="l">
              <a:lnSpc>
                <a:spcPts val="2452"/>
              </a:lnSpc>
              <a:spcBef>
                <a:spcPct val="0"/>
              </a:spcBef>
            </a:pPr>
          </a:p>
          <a:p>
            <a:pPr algn="l" marL="428230" indent="-214115" lvl="1">
              <a:lnSpc>
                <a:spcPts val="2578"/>
              </a:lnSpc>
              <a:spcBef>
                <a:spcPct val="0"/>
              </a:spcBef>
              <a:buFont typeface="Arial"/>
              <a:buChar char="•"/>
            </a:pPr>
            <a:r>
              <a:rPr lang="en-US" sz="198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Data Visualization for Revenue Analysis</a:t>
            </a:r>
          </a:p>
          <a:p>
            <a:pPr algn="l">
              <a:lnSpc>
                <a:spcPts val="2578"/>
              </a:lnSpc>
              <a:spcBef>
                <a:spcPct val="0"/>
              </a:spcBef>
            </a:pPr>
          </a:p>
          <a:p>
            <a:pPr algn="l">
              <a:lnSpc>
                <a:spcPts val="2452"/>
              </a:lnSpc>
              <a:spcBef>
                <a:spcPct val="0"/>
              </a:spcBef>
            </a:pPr>
            <a:r>
              <a:rPr lang="en-US" sz="188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 created data visualizations to analyze revenue data, identifying key trends and patterns, and preparing insights for informed decision-making.</a:t>
            </a:r>
          </a:p>
          <a:p>
            <a:pPr algn="l">
              <a:lnSpc>
                <a:spcPts val="2452"/>
              </a:lnSpc>
              <a:spcBef>
                <a:spcPct val="0"/>
              </a:spcBef>
            </a:pPr>
          </a:p>
          <a:p>
            <a:pPr algn="l">
              <a:lnSpc>
                <a:spcPts val="2452"/>
              </a:lnSpc>
              <a:spcBef>
                <a:spcPct val="0"/>
              </a:spcBef>
            </a:pPr>
          </a:p>
          <a:p>
            <a:pPr algn="l">
              <a:lnSpc>
                <a:spcPts val="2452"/>
              </a:lnSpc>
              <a:spcBef>
                <a:spcPct val="0"/>
              </a:spcBef>
            </a:pPr>
            <a:r>
              <a:rPr lang="en-US" sz="188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.</a:t>
            </a:r>
          </a:p>
          <a:p>
            <a:pPr algn="l">
              <a:lnSpc>
                <a:spcPts val="2452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399851" y="990600"/>
            <a:ext cx="804529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</a:t>
            </a:r>
            <a:r>
              <a:rPr lang="en-US" b="true" sz="33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lan for future use of learned things...</a:t>
            </a:r>
          </a:p>
        </p:txBody>
      </p:sp>
    </p:spTree>
  </p:cSld>
  <p:clrMapOvr>
    <a:masterClrMapping/>
  </p:clrMapOvr>
  <p:transition spd="slow">
    <p:cover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28674" y="0"/>
            <a:ext cx="6959326" cy="10287000"/>
          </a:xfrm>
          <a:custGeom>
            <a:avLst/>
            <a:gdLst/>
            <a:ahLst/>
            <a:cxnLst/>
            <a:rect r="r" b="b" t="t" l="l"/>
            <a:pathLst>
              <a:path h="10287000" w="6959326">
                <a:moveTo>
                  <a:pt x="0" y="0"/>
                </a:moveTo>
                <a:lnTo>
                  <a:pt x="6959326" y="0"/>
                </a:lnTo>
                <a:lnTo>
                  <a:pt x="69593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25" r="-1747" b="-162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783005"/>
            <a:ext cx="4494967" cy="98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  <a:spcBef>
                <a:spcPct val="0"/>
              </a:spcBef>
            </a:pPr>
            <a:r>
              <a:rPr lang="en-US" b="true" sz="6092">
                <a:solidFill>
                  <a:srgbClr val="34343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References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01016" y="4044990"/>
            <a:ext cx="7942984" cy="3122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399">
                <a:solidFill>
                  <a:srgbClr val="343432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 am always looking for ways to expand my knowledge and expertise in data visualization and related fields. I am particularly interested in exploring advanced data visualization techniques, data storytelling, and the ethical implications of data usage. The TATA Data Visualization Internship provided valuable resources and learning materials.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r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99871" y="2680192"/>
            <a:ext cx="8892659" cy="4924128"/>
            <a:chOff x="0" y="0"/>
            <a:chExt cx="2785608" cy="15424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85608" cy="1542473"/>
            </a:xfrm>
            <a:custGeom>
              <a:avLst/>
              <a:gdLst/>
              <a:ahLst/>
              <a:cxnLst/>
              <a:rect r="r" b="b" t="t" l="l"/>
              <a:pathLst>
                <a:path h="1542473" w="2785608">
                  <a:moveTo>
                    <a:pt x="39177" y="0"/>
                  </a:moveTo>
                  <a:lnTo>
                    <a:pt x="2746431" y="0"/>
                  </a:lnTo>
                  <a:cubicBezTo>
                    <a:pt x="2768068" y="0"/>
                    <a:pt x="2785608" y="17540"/>
                    <a:pt x="2785608" y="39177"/>
                  </a:cubicBezTo>
                  <a:lnTo>
                    <a:pt x="2785608" y="1503296"/>
                  </a:lnTo>
                  <a:cubicBezTo>
                    <a:pt x="2785608" y="1524933"/>
                    <a:pt x="2768068" y="1542473"/>
                    <a:pt x="2746431" y="1542473"/>
                  </a:cubicBezTo>
                  <a:lnTo>
                    <a:pt x="39177" y="1542473"/>
                  </a:lnTo>
                  <a:cubicBezTo>
                    <a:pt x="17540" y="1542473"/>
                    <a:pt x="0" y="1524933"/>
                    <a:pt x="0" y="1503296"/>
                  </a:cubicBezTo>
                  <a:lnTo>
                    <a:pt x="0" y="39177"/>
                  </a:lnTo>
                  <a:cubicBezTo>
                    <a:pt x="0" y="17540"/>
                    <a:pt x="17540" y="0"/>
                    <a:pt x="39177" y="0"/>
                  </a:cubicBezTo>
                  <a:close/>
                </a:path>
              </a:pathLst>
            </a:custGeom>
            <a:solidFill>
              <a:srgbClr val="106861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85608" cy="1580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3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68394" y="2100713"/>
            <a:ext cx="6083085" cy="6083085"/>
          </a:xfrm>
          <a:custGeom>
            <a:avLst/>
            <a:gdLst/>
            <a:ahLst/>
            <a:cxnLst/>
            <a:rect r="r" b="b" t="t" l="l"/>
            <a:pathLst>
              <a:path h="6083085" w="6083085">
                <a:moveTo>
                  <a:pt x="0" y="0"/>
                </a:moveTo>
                <a:lnTo>
                  <a:pt x="6083085" y="0"/>
                </a:lnTo>
                <a:lnTo>
                  <a:pt x="6083085" y="6083086"/>
                </a:lnTo>
                <a:lnTo>
                  <a:pt x="0" y="60830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434840" y="2667169"/>
            <a:ext cx="4950194" cy="4950174"/>
            <a:chOff x="0" y="0"/>
            <a:chExt cx="6350000" cy="63499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385033" y="4217452"/>
            <a:ext cx="5424017" cy="175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16"/>
              </a:lnSpc>
            </a:pPr>
            <a:r>
              <a:rPr lang="en-US" b="true" sz="5082" spc="47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THANKING </a:t>
            </a:r>
          </a:p>
          <a:p>
            <a:pPr algn="ctr" marL="0" indent="0" lvl="0">
              <a:lnSpc>
                <a:spcPts val="7116"/>
              </a:lnSpc>
              <a:spcBef>
                <a:spcPct val="0"/>
              </a:spcBef>
            </a:pPr>
            <a:r>
              <a:rPr lang="en-US" b="true" sz="5082" spc="47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YOU !!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811589" y="8007246"/>
            <a:ext cx="4201427" cy="420142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42950" cap="sq">
              <a:solidFill>
                <a:srgbClr val="AEEA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1868494" y="-2100713"/>
            <a:ext cx="4201427" cy="420142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42950" cap="sq">
              <a:solidFill>
                <a:srgbClr val="AEEA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067950" y="6633635"/>
            <a:ext cx="762083" cy="76208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6861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575233" y="9258300"/>
            <a:ext cx="1614906" cy="161490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6861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DAGOZZojBqg</dc:identifier>
  <dcterms:modified xsi:type="dcterms:W3CDTF">2011-08-01T06:04:30Z</dcterms:modified>
  <cp:revision>1</cp:revision>
  <dc:title>White and Green Simple  Professional Business Project Presentation</dc:title>
</cp:coreProperties>
</file>